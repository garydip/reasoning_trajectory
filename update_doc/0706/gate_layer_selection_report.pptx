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Layer 31 + LR</c:v>
                </c:pt>
              </c:strCache>
            </c:strRef>
          </c:tx>
          <c:spPr>
            <a:solidFill>
              <a:srgbClr val="94A3B8"/>
            </a:solidFill>
            <a:ln>
              <a:solidFill>
                <a:srgbClr val="94A3B8"/>
              </a:solidFill>
            </a:ln>
          </c:spPr>
          <c:dLbls>
            <c:numFmt formatCode="0.000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j=0
Q→E1</c:v>
                </c:pt>
                <c:pt idx="1">
                  <c:v>j=1
E1→E2</c:v>
                </c:pt>
                <c:pt idx="2">
                  <c:v>j=2
E2→E3</c:v>
                </c:pt>
                <c:pt idx="3">
                  <c:v>j=3
E3→E4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0.7513</c:v>
                </c:pt>
                <c:pt idx="1">
                  <c:v>0.7699</c:v>
                </c:pt>
                <c:pt idx="2">
                  <c:v>0.761</c:v>
                </c:pt>
                <c:pt idx="3">
                  <c:v>0.7843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混层 + LR</c:v>
                </c:pt>
              </c:strCache>
            </c:strRef>
          </c:tx>
          <c:spPr>
            <a:solidFill>
              <a:srgbClr val="2563EB"/>
            </a:solidFill>
            <a:ln>
              <a:solidFill>
                <a:srgbClr val="2563EB"/>
              </a:solidFill>
            </a:ln>
          </c:spPr>
          <c:dLbls>
            <c:numFmt formatCode="0.000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j=0
Q→E1</c:v>
                </c:pt>
                <c:pt idx="1">
                  <c:v>j=1
E1→E2</c:v>
                </c:pt>
                <c:pt idx="2">
                  <c:v>j=2
E2→E3</c:v>
                </c:pt>
                <c:pt idx="3">
                  <c:v>j=3
E3→E4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0.7876</c:v>
                </c:pt>
                <c:pt idx="1">
                  <c:v>0.776</c:v>
                </c:pt>
                <c:pt idx="2">
                  <c:v>0.7535</c:v>
                </c:pt>
                <c:pt idx="3">
                  <c:v>0.8056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3"/>
          <c:min val="0.7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Layer 31 + LR</c:v>
                </c:pt>
              </c:strCache>
            </c:strRef>
          </c:tx>
          <c:spPr>
            <a:solidFill>
              <a:srgbClr val="94A3B8"/>
            </a:solidFill>
            <a:ln>
              <a:solidFill>
                <a:srgbClr val="94A3B8"/>
              </a:solidFill>
            </a:ln>
          </c:spPr>
          <c:dLbls>
            <c:numFmt formatCode="0.000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K=2</c:v>
                </c:pt>
                <c:pt idx="1">
                  <c:v>K=3</c:v>
                </c:pt>
                <c:pt idx="2">
                  <c:v>K=4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0.8069</c:v>
                </c:pt>
                <c:pt idx="1">
                  <c:v>0.7467</c:v>
                </c:pt>
                <c:pt idx="2">
                  <c:v>0.7138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混层 + LR</c:v>
                </c:pt>
              </c:strCache>
            </c:strRef>
          </c:tx>
          <c:spPr>
            <a:solidFill>
              <a:srgbClr val="0891B2"/>
            </a:solidFill>
            <a:ln>
              <a:solidFill>
                <a:srgbClr val="0891B2"/>
              </a:solidFill>
            </a:ln>
          </c:spPr>
          <c:dLbls>
            <c:numFmt formatCode="0.000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K=2</c:v>
                </c:pt>
                <c:pt idx="1">
                  <c:v>K=3</c:v>
                </c:pt>
                <c:pt idx="2">
                  <c:v>K=4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0.8265</c:v>
                </c:pt>
                <c:pt idx="1">
                  <c:v>0.7638</c:v>
                </c:pt>
                <c:pt idx="2">
                  <c:v>0.7268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68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2743200" cy="2057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t>GATE</a:t>
            </a:r>
            <a:br/>
            <a:r>
              <a:t>LAYER</a:t>
            </a:r>
            <a:br/>
            <a:r>
              <a:t>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3063240"/>
            <a:ext cx="2560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7DD3FC"/>
                </a:solidFill>
                <a:latin typeface="Noto Sans CJK SC"/>
              </a:defRPr>
            </a:pPr>
            <a:r>
              <a:t>实验汇报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188720"/>
            <a:ext cx="69494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Noto Sans CJK SC"/>
              </a:defRPr>
            </a:pPr>
            <a:r>
              <a:t>从统一末层到按 transition 选层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8848" y="2057400"/>
            <a:ext cx="6217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Noto Sans CJK SC"/>
              </a:defRPr>
            </a:pPr>
            <a:r>
              <a:t>全量验证结论、pilot 探索过程与上线决策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2926080"/>
            <a:ext cx="6263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3154680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Noto Sans CJK SC"/>
              </a:defRPr>
            </a:pPr>
            <a:r>
              <a:t>最终建议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493008"/>
            <a:ext cx="5669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Noto Sans CJK SC"/>
              </a:defRPr>
            </a:pPr>
            <a:r>
              <a:t>j=0,1 → layer 15   |   j=2,3 → layer 23   |   LR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516636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CJK SC"/>
              </a:defRPr>
            </a:pPr>
            <a:r>
              <a:t>基于 83,927 train + 8,821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6080760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Noto Sans CJK SC"/>
              </a:defRPr>
            </a:pPr>
            <a:r>
              <a:t>0705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Noto Sans CJK SC"/>
              </a:defRPr>
            </a:pPr>
            <a:r>
              <a:t>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Noto Sans CJK SC"/>
              </a:defRPr>
            </a:pPr>
            <a:r>
              <a:t>为什么要重新选择 gate 层？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66928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74320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Noto Sans CJK SC"/>
              </a:defRPr>
            </a:pPr>
            <a:r>
              <a:t>Gate layer selection · 0705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  <a:latin typeface="Noto Sans CJK SC"/>
              </a:defRPr>
            </a:pPr>
            <a:r>
              <a:t>现状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246120" cy="34290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2651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Layer 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07792"/>
            <a:ext cx="2651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Noto Sans CJK SC"/>
              </a:defRPr>
            </a:pPr>
            <a:r>
              <a:t>PCA(64) + 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26517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4 个 pooled transition</a:t>
            </a:r>
            <a:br/>
            <a:r>
              <a:t>共享同一层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481328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  <a:latin typeface="Noto Sans CJK SC"/>
              </a:defRPr>
            </a:pPr>
            <a:r>
              <a:t>两个核心问题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28800"/>
            <a:ext cx="7040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84832"/>
            <a:ext cx="502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029968"/>
            <a:ext cx="5669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  <a:latin typeface="Noto Sans CJK SC"/>
              </a:defRPr>
            </a:pPr>
            <a:r>
              <a:t>最后一层真的是最优层吗？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514600"/>
            <a:ext cx="5623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Noto Sans CJK SC"/>
              </a:defRPr>
            </a:pPr>
            <a:r>
              <a:t>末层更贴近 next-token 目标，未必保留最强的连贯性信号。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66160"/>
            <a:ext cx="7040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822191"/>
            <a:ext cx="502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767328"/>
            <a:ext cx="5669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  <a:latin typeface="Noto Sans CJK SC"/>
              </a:defRPr>
            </a:pPr>
            <a:r>
              <a:t>能否补强深层 transition？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4251960"/>
            <a:ext cx="5623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Noto Sans CJK SC"/>
              </a:defRPr>
            </a:pPr>
            <a:r>
              <a:t>生产 dev 中 K=4 的 F1 明显低于 K=2，是已知短板。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5440680"/>
            <a:ext cx="7040880" cy="50292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5568696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Noto Sans CJK SC"/>
              </a:defRPr>
            </a:pPr>
            <a:r>
              <a:t>目标：提升判别力，同时不以更高 FPR 为代价。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Noto Sans CJK SC"/>
              </a:defRPr>
            </a:pPr>
            <a:r>
              <a:t>最终结论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Noto Sans CJK SC"/>
              </a:defRPr>
            </a:pPr>
            <a:r>
              <a:t>全量验证：混层 + LR 全面优于生产现状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66928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74320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Noto Sans CJK SC"/>
              </a:defRPr>
            </a:pPr>
            <a:r>
              <a:t>Gate layer selection · 0705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12140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36776"/>
            <a:ext cx="179222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  <a:latin typeface="Noto Sans CJK SC"/>
              </a:defRPr>
            </a:pPr>
            <a:r>
              <a:t>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47672"/>
            <a:ext cx="17922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Noto Sans CJK SC"/>
              </a:defRPr>
            </a:pPr>
            <a:r>
              <a:t>0.9074  →  0.9221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04872"/>
            <a:ext cx="17922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Noto Sans CJK SC"/>
              </a:defRPr>
            </a:pPr>
            <a:r>
              <a:t>+0.0147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1508760"/>
            <a:ext cx="212140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1636776"/>
            <a:ext cx="179222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  <a:latin typeface="Noto Sans CJK SC"/>
              </a:defRPr>
            </a:pPr>
            <a:r>
              <a:t>TPR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1947672"/>
            <a:ext cx="17922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Noto Sans CJK SC"/>
              </a:defRPr>
            </a:pPr>
            <a:r>
              <a:t>0.8235  →  0.8456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404872"/>
            <a:ext cx="17922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Noto Sans CJK SC"/>
              </a:defRPr>
            </a:pPr>
            <a:r>
              <a:t>+0.0221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1508760"/>
            <a:ext cx="212140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0096" y="1636776"/>
            <a:ext cx="179222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  <a:latin typeface="Noto Sans CJK SC"/>
              </a:defRPr>
            </a:pPr>
            <a:r>
              <a:t>FPR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1947672"/>
            <a:ext cx="17922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Noto Sans CJK SC"/>
              </a:defRPr>
            </a:pPr>
            <a:r>
              <a:t>0.1756  →  0.1693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404872"/>
            <a:ext cx="17922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Noto Sans CJK SC"/>
              </a:defRPr>
            </a:pPr>
            <a:r>
              <a:t>−0.0063 · 更低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6" y="1508760"/>
            <a:ext cx="212140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8" y="1636776"/>
            <a:ext cx="179222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  <a:latin typeface="Noto Sans CJK SC"/>
              </a:defRPr>
            </a:pPr>
            <a:r>
              <a:t>Precision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1947672"/>
            <a:ext cx="17922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Noto Sans CJK SC"/>
              </a:defRPr>
            </a:pPr>
            <a:r>
              <a:t>0.7084  →  0.7212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404872"/>
            <a:ext cx="17922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Noto Sans CJK SC"/>
              </a:defRPr>
            </a:pPr>
            <a:r>
              <a:t>+0.0128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1508760"/>
            <a:ext cx="184708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19" y="1636776"/>
            <a:ext cx="15179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  <a:latin typeface="Noto Sans CJK SC"/>
              </a:defRPr>
            </a:pPr>
            <a:r>
              <a:t>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1947672"/>
            <a:ext cx="151790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Noto Sans CJK SC"/>
              </a:defRPr>
            </a:pPr>
            <a:r>
              <a:t>0.7616  →  0.7785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404872"/>
            <a:ext cx="15179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Noto Sans CJK SC"/>
              </a:defRPr>
            </a:pPr>
            <a:r>
              <a:t>+0.0169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154680"/>
            <a:ext cx="10972800" cy="20574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93008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7DD3FC"/>
                </a:solidFill>
                <a:latin typeface="Noto Sans CJK SC"/>
              </a:defRPr>
            </a:pPr>
            <a:r>
              <a:t>推荐配置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77639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Layer 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4398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Noto Sans CJK SC"/>
              </a:defRPr>
            </a:pPr>
            <a:r>
              <a:t>j=0 / j=1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041648"/>
            <a:ext cx="365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7DD3FC"/>
                </a:solidFill>
                <a:latin typeface="Noto Sans CJK SC"/>
              </a:defRPr>
            </a:pPr>
            <a:r>
              <a:t>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3977639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Layer 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44398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Noto Sans CJK SC"/>
              </a:defRPr>
            </a:pPr>
            <a:r>
              <a:t>j=2 / j=3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4041648"/>
            <a:ext cx="365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7DD3FC"/>
                </a:solidFill>
                <a:latin typeface="Noto Sans CJK SC"/>
              </a:defRPr>
            </a:pPr>
            <a:r>
              <a:t>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3977639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Logistic Regression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443984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Noto Sans CJK SC"/>
              </a:defRPr>
            </a:pPr>
            <a:r>
              <a:t>阈值校准稳定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3538728"/>
            <a:ext cx="2057400" cy="123444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3721608"/>
            <a:ext cx="1783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Noto Sans CJK SC"/>
              </a:defRPr>
            </a:pPr>
            <a:r>
              <a:t>83,927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178808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0">
                <a:solidFill>
                  <a:srgbClr val="BFDBFE"/>
                </a:solidFill>
                <a:latin typeface="Noto Sans CJK SC"/>
              </a:defRPr>
            </a:pPr>
            <a:r>
              <a:t>全量 train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650992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16A34A"/>
                </a:solidFill>
                <a:latin typeface="Noto Sans CJK SC"/>
              </a:defRPr>
            </a:pPr>
            <a:r>
              <a:t>结论不是用 FPR 换 TPR：TPR、Precision、F1 均提升，FPR 反而下降。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Noto Sans CJK SC"/>
              </a:defRPr>
            </a:pPr>
            <a:r>
              <a:t>分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Noto Sans CJK SC"/>
              </a:defRPr>
            </a:pPr>
            <a:r>
              <a:t>提升主要来自 j=0 与 j=3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66928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74320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Noto Sans CJK SC"/>
              </a:defRPr>
            </a:pPr>
            <a:r>
              <a:t>Gate layer selection · 0705 update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417320"/>
          <a:ext cx="7498079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508760"/>
            <a:ext cx="3063240" cy="105156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05088" y="1700784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Noto Sans CJK SC"/>
              </a:defRPr>
            </a:pPr>
            <a:r>
              <a:t>j=0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645920"/>
            <a:ext cx="1783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300" b="1">
                <a:solidFill>
                  <a:srgbClr val="16A34A"/>
                </a:solidFill>
                <a:latin typeface="Noto Sans CJK SC"/>
              </a:defRPr>
            </a:pPr>
            <a:r>
              <a:t>+0.0363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788920"/>
            <a:ext cx="3063240" cy="105156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2980944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Noto Sans CJK SC"/>
              </a:defRPr>
            </a:pPr>
            <a:r>
              <a:t>j=3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2926080"/>
            <a:ext cx="1783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300" b="1">
                <a:solidFill>
                  <a:srgbClr val="2563EB"/>
                </a:solidFill>
                <a:latin typeface="Noto Sans CJK SC"/>
              </a:defRPr>
            </a:pPr>
            <a:r>
              <a:t>+0.0213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069080"/>
            <a:ext cx="3063240" cy="1234440"/>
          </a:xfrm>
          <a:prstGeom prst="roundRect">
            <a:avLst/>
          </a:prstGeom>
          <a:solidFill>
            <a:srgbClr val="FEF2F2"/>
          </a:solidFill>
          <a:ln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05088" y="425196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Noto Sans CJK SC"/>
              </a:defRPr>
            </a:pPr>
            <a:r>
              <a:t>唯一回落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645152"/>
            <a:ext cx="2286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Noto Sans CJK SC"/>
              </a:defRPr>
            </a:pPr>
            <a:r>
              <a:t>j=2  −0.0075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5532120"/>
            <a:ext cx="2926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Noto Sans CJK SC"/>
              </a:defRPr>
            </a:pPr>
            <a:r>
              <a:t>整体收益覆盖了局部小幅回落；j=3 的改善直接对应深层 transition 短板。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Noto Sans CJK SC"/>
              </a:defRPr>
            </a:pPr>
            <a:r>
              <a:t>分 HOP 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Noto Sans CJK SC"/>
              </a:defRPr>
            </a:pPr>
            <a:r>
              <a:t>K=2 / 3 / 4 均提升，深层短板得到缓解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66928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74320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Noto Sans CJK SC"/>
              </a:defRPr>
            </a:pPr>
            <a:r>
              <a:t>Gate layer selection · 0705 update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417320"/>
          <a:ext cx="758952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732520" y="1600200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475569"/>
                </a:solidFill>
                <a:latin typeface="Noto Sans CJK SC"/>
              </a:defRPr>
            </a:pPr>
            <a:r>
              <a:t>Δ 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2148840"/>
            <a:ext cx="2423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F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2350008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  <a:latin typeface="Noto Sans CJK SC"/>
              </a:defRPr>
            </a:pPr>
            <a:r>
              <a:t>K=2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2295144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800" b="1">
                <a:solidFill>
                  <a:srgbClr val="0891B2"/>
                </a:solidFill>
                <a:latin typeface="Noto Sans CJK SC"/>
              </a:defRPr>
            </a:pPr>
            <a:r>
              <a:t>+0.0196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3136392"/>
            <a:ext cx="2423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F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33375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  <a:latin typeface="Noto Sans CJK SC"/>
              </a:defRPr>
            </a:pPr>
            <a:r>
              <a:t>K=3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3282696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800" b="1">
                <a:solidFill>
                  <a:srgbClr val="0891B2"/>
                </a:solidFill>
                <a:latin typeface="Noto Sans CJK SC"/>
              </a:defRPr>
            </a:pPr>
            <a:r>
              <a:t>+0.0171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4123944"/>
            <a:ext cx="2423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F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4325112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  <a:latin typeface="Noto Sans CJK SC"/>
              </a:defRPr>
            </a:pPr>
            <a:r>
              <a:t>K=4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4270248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800" b="1">
                <a:solidFill>
                  <a:srgbClr val="0891B2"/>
                </a:solidFill>
                <a:latin typeface="Noto Sans CJK SC"/>
              </a:defRPr>
            </a:pPr>
            <a:r>
              <a:t>+0.0130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85632" y="5285232"/>
            <a:ext cx="2743200" cy="566928"/>
          </a:xfrm>
          <a:prstGeom prst="roundRect">
            <a:avLst/>
          </a:prstGeom>
          <a:solidFill>
            <a:srgbClr val="ECFEFF"/>
          </a:solidFill>
          <a:ln>
            <a:solidFill>
              <a:srgbClr val="ECF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5449824"/>
            <a:ext cx="2468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0891B2"/>
                </a:solidFill>
                <a:latin typeface="Noto Sans CJK SC"/>
              </a:defRPr>
            </a:pPr>
            <a:r>
              <a:t>K=4：0.7138 → 0.7268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Noto Sans CJK SC"/>
              </a:defRPr>
            </a:pPr>
            <a:r>
              <a:t>模型选择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Noto Sans CJK SC"/>
              </a:defRPr>
            </a:pPr>
            <a:r>
              <a:t>为什么最终仍选择 LR，而不是 MLP？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66928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74320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Noto Sans CJK SC"/>
              </a:defRPr>
            </a:pPr>
            <a:r>
              <a:t>Gate layer selection · 0705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2286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100" b="1">
                <a:solidFill>
                  <a:srgbClr val="7C3AED"/>
                </a:solidFill>
                <a:latin typeface="Noto Sans CJK SC"/>
              </a:defRPr>
            </a:pPr>
            <a:r>
              <a:t>MLP ·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Noto Sans CJK SC"/>
              </a:defRPr>
            </a:pPr>
            <a:r>
              <a:t>AUC 更高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67712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2800" b="1">
                <a:solidFill>
                  <a:srgbClr val="7C3AED"/>
                </a:solidFill>
                <a:latin typeface="Noto Sans CJK SC"/>
              </a:defRPr>
            </a:pPr>
            <a:r>
              <a:t>0.9266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90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Noto Sans CJK SC"/>
              </a:defRPr>
            </a:pPr>
            <a:r>
              <a:t>但阈值迁移失稳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0332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Noto Sans CJK SC"/>
              </a:defRPr>
            </a:pPr>
            <a:r>
              <a:t>目标 FPR 0.15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630168"/>
            <a:ext cx="21031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2200" b="1">
                <a:solidFill>
                  <a:srgbClr val="DC2626"/>
                </a:solidFill>
                <a:latin typeface="Noto Sans CJK SC"/>
              </a:defRPr>
            </a:pPr>
            <a:r>
              <a:t>dev 实际 0.2348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352544"/>
            <a:ext cx="4480560" cy="777240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572000"/>
            <a:ext cx="4069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Noto Sans CJK SC"/>
              </a:defRPr>
            </a:pPr>
            <a:r>
              <a:t>排序质量提升真实，但触发阈值尚不可控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810512"/>
            <a:ext cx="2286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100" b="1">
                <a:solidFill>
                  <a:srgbClr val="2563EB"/>
                </a:solidFill>
                <a:latin typeface="Noto Sans CJK SC"/>
              </a:defRPr>
            </a:pPr>
            <a:r>
              <a:t>LR · 全量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95728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Noto Sans CJK SC"/>
              </a:defRPr>
            </a:pPr>
            <a:r>
              <a:t>AUC 稳健提升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267712"/>
            <a:ext cx="1737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2800" b="1">
                <a:solidFill>
                  <a:srgbClr val="2563EB"/>
                </a:solidFill>
                <a:latin typeface="Noto Sans CJK SC"/>
              </a:defRPr>
            </a:pPr>
            <a:r>
              <a:t>+0.0147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90672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Noto Sans CJK SC"/>
              </a:defRPr>
            </a:pPr>
            <a:r>
              <a:t>阈值校准可靠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0332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Noto Sans CJK SC"/>
              </a:defRPr>
            </a:pPr>
            <a:r>
              <a:t>生产 FPR 0.1756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630168"/>
            <a:ext cx="1965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2200" b="1">
                <a:solidFill>
                  <a:srgbClr val="16A34A"/>
                </a:solidFill>
                <a:latin typeface="Noto Sans CJK SC"/>
              </a:defRPr>
            </a:pPr>
            <a:r>
              <a:t>新方案 0.1693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352544"/>
            <a:ext cx="4480560" cy="77724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4572000"/>
            <a:ext cx="4069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  <a:latin typeface="Noto Sans CJK SC"/>
              </a:defRPr>
            </a:pPr>
            <a:r>
              <a:t>性能提升且风险更低，适合进入下游验证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Noto Sans CJK SC"/>
              </a:defRPr>
            </a:pPr>
            <a:r>
              <a:t>决策原则：当前先吃到“选层”的确定性收益；MLP 待重新设计校准方案后再评估。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Noto Sans CJK SC"/>
              </a:defRPr>
            </a:pPr>
            <a:r>
              <a:t>探索路径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Noto Sans CJK SC"/>
              </a:defRPr>
            </a:pPr>
            <a:r>
              <a:t>pilot 如何找到混层方案？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66928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74320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Noto Sans CJK SC"/>
              </a:defRPr>
            </a:pPr>
            <a:r>
              <a:t>Gate layer selection · 0705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4871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530352" cy="53035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78608"/>
            <a:ext cx="21031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Noto Sans CJK SC"/>
              </a:defRPr>
            </a:pPr>
            <a:r>
              <a:t>扫描 7 / 15 / 23 / 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21031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Noto Sans CJK SC"/>
              </a:defRPr>
            </a:pPr>
            <a:r>
              <a:t>中间层 15、23 整体优于末层 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1600200"/>
            <a:ext cx="24871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5032" y="1828800"/>
            <a:ext cx="530352" cy="530352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1920240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578608"/>
            <a:ext cx="21031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Noto Sans CJK SC"/>
              </a:defRPr>
            </a:pPr>
            <a:r>
              <a:t>按 transition 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3520440"/>
            <a:ext cx="21031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Noto Sans CJK SC"/>
              </a:defRPr>
            </a:pPr>
            <a:r>
              <a:t>15 擅长 j=0/1；23 擅长 j=2/3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1600200"/>
            <a:ext cx="24871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01384" y="1828800"/>
            <a:ext cx="530352" cy="530352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1920240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578608"/>
            <a:ext cx="21031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Noto Sans CJK SC"/>
              </a:defRPr>
            </a:pPr>
            <a:r>
              <a:t>concat 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3520440"/>
            <a:ext cx="21031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Noto Sans CJK SC"/>
              </a:defRPr>
            </a:pPr>
            <a:r>
              <a:t>15+15 ≈ 15，排除“维度越多越好”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4856" y="1600200"/>
            <a:ext cx="24871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17736" y="1828800"/>
            <a:ext cx="530352" cy="530352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1920240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578608"/>
            <a:ext cx="21031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Noto Sans CJK SC"/>
              </a:defRPr>
            </a:pPr>
            <a:r>
              <a:t>加入 Layer 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3520440"/>
            <a:ext cx="21031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Noto Sans CJK SC"/>
              </a:defRPr>
            </a:pPr>
            <a:r>
              <a:t>15+23+31 反而降至 0.9010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413248"/>
            <a:ext cx="685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Noto Sans CJK SC"/>
              </a:defRPr>
            </a:pPr>
            <a:r>
              <a:t>推断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349240"/>
            <a:ext cx="9875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Noto Sans CJK SC"/>
              </a:defRPr>
            </a:pPr>
            <a:r>
              <a:t>不同深度保留的信号具有互补性；最后一层可能更受 next-token 目标塑形。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824728"/>
            <a:ext cx="9875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Noto Sans CJK SC"/>
              </a:defRPr>
            </a:pPr>
            <a:r>
              <a:t>注：这是基于实验结果的解释性推断，不是因果证明。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Noto Sans CJK SC"/>
              </a:defRPr>
            </a:pPr>
            <a:r>
              <a:t>实现状态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Noto Sans CJK SC"/>
              </a:defRPr>
            </a:pPr>
            <a:r>
              <a:t>方案已具备 artifact 驱动的工程落地能力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66928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74320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Noto Sans CJK SC"/>
              </a:defRPr>
            </a:pPr>
            <a:r>
              <a:t>Gate layer selection · 0705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0789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155448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60020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Noto Sans CJK SC"/>
              </a:defRPr>
            </a:pPr>
            <a:r>
              <a:t>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572768"/>
            <a:ext cx="37490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Noto Sans Mono CJK SC"/>
              </a:defRPr>
            </a:pPr>
            <a:r>
              <a:t>hidden_states/pilot_multilayer/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581912"/>
            <a:ext cx="5074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Noto Sans CJK SC"/>
              </a:defRPr>
            </a:pPr>
            <a:r>
              <a:t>同一份多层 NPZ；train 83,927 / dev 8,821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87168"/>
            <a:ext cx="10789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487168"/>
            <a:ext cx="155448" cy="82296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670048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0891B2"/>
                </a:solidFill>
                <a:latin typeface="Noto Sans CJK SC"/>
              </a:defRPr>
            </a:pPr>
            <a:r>
              <a:t>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42615"/>
            <a:ext cx="37490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Noto Sans Mono CJK SC"/>
              </a:defRPr>
            </a:pPr>
            <a:r>
              <a:t>gate/artifacts_pooled_v2/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651760"/>
            <a:ext cx="5074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Noto Sans CJK SC"/>
              </a:defRPr>
            </a:pPr>
            <a:r>
              <a:t>每个 joblib 自带 layer 元数据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57015"/>
            <a:ext cx="10789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557015"/>
            <a:ext cx="155448" cy="822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739896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Noto Sans CJK SC"/>
              </a:defRPr>
            </a:pPr>
            <a:r>
              <a:t>训练脚本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712463"/>
            <a:ext cx="37490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Noto Sans Mono CJK SC"/>
              </a:defRPr>
            </a:pPr>
            <a:r>
              <a:t>fit_lr_gate_pooled.py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721607"/>
            <a:ext cx="5074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Noto Sans CJK SC"/>
              </a:defRPr>
            </a:pPr>
            <a:r>
              <a:t>新增 --per-j-layers 与 split 参数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26864"/>
            <a:ext cx="10789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626864"/>
            <a:ext cx="155448" cy="8229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809744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Noto Sans CJK SC"/>
              </a:defRPr>
            </a:pPr>
            <a:r>
              <a:t>检索脚本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782312"/>
            <a:ext cx="37490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Noto Sans Mono CJK SC"/>
              </a:defRPr>
            </a:pPr>
            <a:r>
              <a:t>run_retrieval_exp_wavefront.py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791455"/>
            <a:ext cx="5074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Noto Sans CJK SC"/>
              </a:defRPr>
            </a:pPr>
            <a:r>
              <a:t>一次 forward 读取所需层；按 artifact 选层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806440"/>
            <a:ext cx="10789920" cy="438912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925312"/>
            <a:ext cx="10332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Noto Sans CJK SC"/>
              </a:defRPr>
            </a:pPr>
            <a:r>
              <a:t>检索代码没有写死层号：配置由 artifact 自身元数据驱动。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Noto Sans CJK SC"/>
              </a:defRPr>
            </a:pPr>
            <a: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Noto Sans CJK SC"/>
              </a:defRPr>
            </a:pPr>
            <a:r>
              <a:t>上线前只剩一块关键拼图：端到端检索验证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66928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74320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Noto Sans CJK SC"/>
              </a:defRPr>
            </a:pPr>
            <a:r>
              <a:t>Gate layer selection · 0705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6995160" cy="45262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>
                <a:solidFill>
                  <a:srgbClr val="7DD3FC"/>
                </a:solidFill>
                <a:latin typeface="Noto Sans CJK SC"/>
              </a:defRPr>
            </a:pPr>
            <a:r>
              <a:t>建议决策流程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331720"/>
            <a:ext cx="475488" cy="47548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313432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保持生产 artifact 不变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2788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Noto Sans CJK SC"/>
              </a:defRPr>
            </a:pPr>
            <a:r>
              <a:t>先不直接替换 gate/artifacts_pooled/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319272"/>
            <a:ext cx="475488" cy="47548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10712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300984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运行 A/B 端到端对比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319272"/>
            <a:ext cx="2788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Noto Sans CJK SC"/>
              </a:defRPr>
            </a:pPr>
            <a:r>
              <a:t>v1 vs v2：recall / EM / F1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306824"/>
            <a:ext cx="475488" cy="47548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98264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88536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指标确认后转正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306824"/>
            <a:ext cx="2788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Noto Sans CJK SC"/>
              </a:defRPr>
            </a:pPr>
            <a:r>
              <a:t>门控指标已通过，只需验证下游收益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417320"/>
            <a:ext cx="3474720" cy="196596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73736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Noto Sans CJK SC"/>
              </a:defRPr>
            </a:pPr>
            <a:r>
              <a:t>GO 条件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249424"/>
            <a:ext cx="2743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Noto Sans CJK SC"/>
              </a:defRPr>
            </a:pPr>
            <a:r>
              <a:t>下游 recall / EM / F1</a:t>
            </a:r>
            <a:br/>
            <a:r>
              <a:t>至少不退化，并出现可复现收益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703320"/>
            <a:ext cx="3474720" cy="2240280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402336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Noto Sans CJK SC"/>
              </a:defRPr>
            </a:pPr>
            <a:r>
              <a:t>暂缓项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498848"/>
            <a:ext cx="2743200" cy="9601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Noto Sans CJK SC"/>
              </a:defRPr>
            </a:pPr>
            <a:r>
              <a:t>•  MLP：重做阈值校准后再测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Noto Sans CJK SC"/>
              </a:defRPr>
            </a:pPr>
            <a:r>
              <a:t>•  27 / 29 层：可选甜蜜点探索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Noto Sans CJK SC"/>
              </a:defRPr>
            </a:pPr>
            <a:r>
              <a:t>附录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Noto Sans CJK SC"/>
              </a:defRPr>
            </a:pPr>
            <a:r>
              <a:t>原始实验总结图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66928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74320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Noto Sans CJK SC"/>
              </a:defRPr>
            </a:pPr>
            <a:r>
              <a:t>Source: update_doc/0706/gate_layer_selection_slide.png</a:t>
            </a:r>
          </a:p>
        </p:txBody>
      </p:sp>
      <p:pic>
        <p:nvPicPr>
          <p:cNvPr id="7" name="Picture 6" descr="gate_layer_selection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44168"/>
            <a:ext cx="10744200" cy="4910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层选择 / 分类器 pilot 实验汇报</dc:title>
  <dc:subject>基于 0705 update 报告生成</dc:subject>
  <dc:creator>OpenAI Codex</dc:creator>
  <cp:keywords>gate, layer selection, logistic regression, retrieval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